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784FCC-F7A3-42B6-BC35-C4211640C29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7238620-4BF4-400B-B80E-2CC7216CD83E}">
      <dgm:prSet/>
      <dgm:spPr/>
      <dgm:t>
        <a:bodyPr/>
        <a:lstStyle/>
        <a:p>
          <a:r>
            <a:rPr lang="en-US"/>
            <a:t>Certifier Process for k-coloring:</a:t>
          </a:r>
        </a:p>
      </dgm:t>
    </dgm:pt>
    <dgm:pt modelId="{94E2959C-013E-424A-98F3-3A33E63DC614}" type="parTrans" cxnId="{3975F12C-6FED-4103-BAEA-49AFD970234F}">
      <dgm:prSet/>
      <dgm:spPr/>
      <dgm:t>
        <a:bodyPr/>
        <a:lstStyle/>
        <a:p>
          <a:endParaRPr lang="en-US"/>
        </a:p>
      </dgm:t>
    </dgm:pt>
    <dgm:pt modelId="{83AB4B3B-74FA-4A65-BA9A-E8EF9E2659CF}" type="sibTrans" cxnId="{3975F12C-6FED-4103-BAEA-49AFD970234F}">
      <dgm:prSet/>
      <dgm:spPr/>
      <dgm:t>
        <a:bodyPr/>
        <a:lstStyle/>
        <a:p>
          <a:endParaRPr lang="en-US"/>
        </a:p>
      </dgm:t>
    </dgm:pt>
    <dgm:pt modelId="{CFBE14F2-4A0D-4AF0-80CB-A9973FDDC6F0}">
      <dgm:prSet/>
      <dgm:spPr/>
      <dgm:t>
        <a:bodyPr/>
        <a:lstStyle/>
        <a:p>
          <a:r>
            <a:rPr lang="en-US"/>
            <a:t>- Certificate = an array color[v] for every vertex</a:t>
          </a:r>
        </a:p>
      </dgm:t>
    </dgm:pt>
    <dgm:pt modelId="{3F2E02FD-8351-4EC9-BEB7-8E7480C0CC25}" type="parTrans" cxnId="{9BCAD566-3083-4614-AB04-95102396FCC8}">
      <dgm:prSet/>
      <dgm:spPr/>
      <dgm:t>
        <a:bodyPr/>
        <a:lstStyle/>
        <a:p>
          <a:endParaRPr lang="en-US"/>
        </a:p>
      </dgm:t>
    </dgm:pt>
    <dgm:pt modelId="{6938AE5D-5BB3-437C-B966-25871D934351}" type="sibTrans" cxnId="{9BCAD566-3083-4614-AB04-95102396FCC8}">
      <dgm:prSet/>
      <dgm:spPr/>
      <dgm:t>
        <a:bodyPr/>
        <a:lstStyle/>
        <a:p>
          <a:endParaRPr lang="en-US"/>
        </a:p>
      </dgm:t>
    </dgm:pt>
    <dgm:pt modelId="{AC11D847-E07A-493A-BBE3-C0B883CF24E3}">
      <dgm:prSet/>
      <dgm:spPr/>
      <dgm:t>
        <a:bodyPr/>
        <a:lstStyle/>
        <a:p>
          <a:r>
            <a:rPr lang="en-US"/>
            <a:t>Must use colors in {0, …, k−1}</a:t>
          </a:r>
        </a:p>
      </dgm:t>
    </dgm:pt>
    <dgm:pt modelId="{E2D329B7-1142-4CE7-B4E6-FC36E938A811}" type="parTrans" cxnId="{9C36ED14-BFE3-4AFE-A1EE-1A3603C6E1EF}">
      <dgm:prSet/>
      <dgm:spPr/>
      <dgm:t>
        <a:bodyPr/>
        <a:lstStyle/>
        <a:p>
          <a:endParaRPr lang="en-US"/>
        </a:p>
      </dgm:t>
    </dgm:pt>
    <dgm:pt modelId="{EDA698FC-BEB7-41D6-8321-9FEAB862A22D}" type="sibTrans" cxnId="{9C36ED14-BFE3-4AFE-A1EE-1A3603C6E1EF}">
      <dgm:prSet/>
      <dgm:spPr/>
      <dgm:t>
        <a:bodyPr/>
        <a:lstStyle/>
        <a:p>
          <a:endParaRPr lang="en-US"/>
        </a:p>
      </dgm:t>
    </dgm:pt>
    <dgm:pt modelId="{082A4986-8199-47ED-847D-3DD336B4CC4A}">
      <dgm:prSet/>
      <dgm:spPr/>
      <dgm:t>
        <a:bodyPr/>
        <a:lstStyle/>
        <a:p>
          <a:r>
            <a:rPr lang="en-US"/>
            <a:t>Certificate verification runs in polynomial time, so k-Coloring ∈ NP</a:t>
          </a:r>
        </a:p>
      </dgm:t>
    </dgm:pt>
    <dgm:pt modelId="{18037497-566D-45AD-9533-63AD4FE10893}" type="parTrans" cxnId="{672F756A-FD09-4D15-9766-74D417D09CDE}">
      <dgm:prSet/>
      <dgm:spPr/>
      <dgm:t>
        <a:bodyPr/>
        <a:lstStyle/>
        <a:p>
          <a:endParaRPr lang="en-US"/>
        </a:p>
      </dgm:t>
    </dgm:pt>
    <dgm:pt modelId="{008A100C-7376-4B22-8C49-C21296499CAF}" type="sibTrans" cxnId="{672F756A-FD09-4D15-9766-74D417D09CDE}">
      <dgm:prSet/>
      <dgm:spPr/>
      <dgm:t>
        <a:bodyPr/>
        <a:lstStyle/>
        <a:p>
          <a:endParaRPr lang="en-US"/>
        </a:p>
      </dgm:t>
    </dgm:pt>
    <dgm:pt modelId="{45CB6677-7951-4A80-9BAF-21F29E131650}" type="pres">
      <dgm:prSet presAssocID="{C8784FCC-F7A3-42B6-BC35-C4211640C298}" presName="vert0" presStyleCnt="0">
        <dgm:presLayoutVars>
          <dgm:dir/>
          <dgm:animOne val="branch"/>
          <dgm:animLvl val="lvl"/>
        </dgm:presLayoutVars>
      </dgm:prSet>
      <dgm:spPr/>
    </dgm:pt>
    <dgm:pt modelId="{55856070-FDEF-4935-9A08-A6DEE1C60C11}" type="pres">
      <dgm:prSet presAssocID="{07238620-4BF4-400B-B80E-2CC7216CD83E}" presName="thickLine" presStyleLbl="alignNode1" presStyleIdx="0" presStyleCnt="4"/>
      <dgm:spPr/>
    </dgm:pt>
    <dgm:pt modelId="{D4F74B21-50EE-4DF5-9A48-8BD03F3EEB90}" type="pres">
      <dgm:prSet presAssocID="{07238620-4BF4-400B-B80E-2CC7216CD83E}" presName="horz1" presStyleCnt="0"/>
      <dgm:spPr/>
    </dgm:pt>
    <dgm:pt modelId="{51EB5C14-7B51-417F-A3EC-776E3808FE0A}" type="pres">
      <dgm:prSet presAssocID="{07238620-4BF4-400B-B80E-2CC7216CD83E}" presName="tx1" presStyleLbl="revTx" presStyleIdx="0" presStyleCnt="4"/>
      <dgm:spPr/>
    </dgm:pt>
    <dgm:pt modelId="{FC099EC9-CE8E-4BE2-80FD-089AD0215F2F}" type="pres">
      <dgm:prSet presAssocID="{07238620-4BF4-400B-B80E-2CC7216CD83E}" presName="vert1" presStyleCnt="0"/>
      <dgm:spPr/>
    </dgm:pt>
    <dgm:pt modelId="{8CB971F1-4B30-4D62-8741-03EE511CE067}" type="pres">
      <dgm:prSet presAssocID="{CFBE14F2-4A0D-4AF0-80CB-A9973FDDC6F0}" presName="thickLine" presStyleLbl="alignNode1" presStyleIdx="1" presStyleCnt="4"/>
      <dgm:spPr/>
    </dgm:pt>
    <dgm:pt modelId="{109E5867-E3DB-447D-9F92-742C8E2D2F08}" type="pres">
      <dgm:prSet presAssocID="{CFBE14F2-4A0D-4AF0-80CB-A9973FDDC6F0}" presName="horz1" presStyleCnt="0"/>
      <dgm:spPr/>
    </dgm:pt>
    <dgm:pt modelId="{0F86DA75-5F44-4612-8CE5-A7AD8D6923DA}" type="pres">
      <dgm:prSet presAssocID="{CFBE14F2-4A0D-4AF0-80CB-A9973FDDC6F0}" presName="tx1" presStyleLbl="revTx" presStyleIdx="1" presStyleCnt="4"/>
      <dgm:spPr/>
    </dgm:pt>
    <dgm:pt modelId="{26D31275-A299-45E0-93AB-C7C7AFAAAFA9}" type="pres">
      <dgm:prSet presAssocID="{CFBE14F2-4A0D-4AF0-80CB-A9973FDDC6F0}" presName="vert1" presStyleCnt="0"/>
      <dgm:spPr/>
    </dgm:pt>
    <dgm:pt modelId="{A48A52DF-19AE-441D-B679-3A866CD7E21C}" type="pres">
      <dgm:prSet presAssocID="{AC11D847-E07A-493A-BBE3-C0B883CF24E3}" presName="thickLine" presStyleLbl="alignNode1" presStyleIdx="2" presStyleCnt="4"/>
      <dgm:spPr/>
    </dgm:pt>
    <dgm:pt modelId="{33FADA2F-8E2B-43D1-8531-7FEDD8FABE83}" type="pres">
      <dgm:prSet presAssocID="{AC11D847-E07A-493A-BBE3-C0B883CF24E3}" presName="horz1" presStyleCnt="0"/>
      <dgm:spPr/>
    </dgm:pt>
    <dgm:pt modelId="{8CC5150F-550D-4E43-8BA2-4CC86F375BCA}" type="pres">
      <dgm:prSet presAssocID="{AC11D847-E07A-493A-BBE3-C0B883CF24E3}" presName="tx1" presStyleLbl="revTx" presStyleIdx="2" presStyleCnt="4"/>
      <dgm:spPr/>
    </dgm:pt>
    <dgm:pt modelId="{CD81B6CD-AEF2-4362-9611-B28B56DB4FFC}" type="pres">
      <dgm:prSet presAssocID="{AC11D847-E07A-493A-BBE3-C0B883CF24E3}" presName="vert1" presStyleCnt="0"/>
      <dgm:spPr/>
    </dgm:pt>
    <dgm:pt modelId="{A33BDED2-6699-45F3-A597-B0DD8C95915F}" type="pres">
      <dgm:prSet presAssocID="{082A4986-8199-47ED-847D-3DD336B4CC4A}" presName="thickLine" presStyleLbl="alignNode1" presStyleIdx="3" presStyleCnt="4"/>
      <dgm:spPr/>
    </dgm:pt>
    <dgm:pt modelId="{076B4FF5-E6B3-4600-BFD2-D1821D8A799F}" type="pres">
      <dgm:prSet presAssocID="{082A4986-8199-47ED-847D-3DD336B4CC4A}" presName="horz1" presStyleCnt="0"/>
      <dgm:spPr/>
    </dgm:pt>
    <dgm:pt modelId="{E831C7F0-D0BE-476B-A647-C27900D54D00}" type="pres">
      <dgm:prSet presAssocID="{082A4986-8199-47ED-847D-3DD336B4CC4A}" presName="tx1" presStyleLbl="revTx" presStyleIdx="3" presStyleCnt="4"/>
      <dgm:spPr/>
    </dgm:pt>
    <dgm:pt modelId="{4814AC2B-45CF-48C1-97DA-B5B8144425C5}" type="pres">
      <dgm:prSet presAssocID="{082A4986-8199-47ED-847D-3DD336B4CC4A}" presName="vert1" presStyleCnt="0"/>
      <dgm:spPr/>
    </dgm:pt>
  </dgm:ptLst>
  <dgm:cxnLst>
    <dgm:cxn modelId="{9C36ED14-BFE3-4AFE-A1EE-1A3603C6E1EF}" srcId="{C8784FCC-F7A3-42B6-BC35-C4211640C298}" destId="{AC11D847-E07A-493A-BBE3-C0B883CF24E3}" srcOrd="2" destOrd="0" parTransId="{E2D329B7-1142-4CE7-B4E6-FC36E938A811}" sibTransId="{EDA698FC-BEB7-41D6-8321-9FEAB862A22D}"/>
    <dgm:cxn modelId="{3975F12C-6FED-4103-BAEA-49AFD970234F}" srcId="{C8784FCC-F7A3-42B6-BC35-C4211640C298}" destId="{07238620-4BF4-400B-B80E-2CC7216CD83E}" srcOrd="0" destOrd="0" parTransId="{94E2959C-013E-424A-98F3-3A33E63DC614}" sibTransId="{83AB4B3B-74FA-4A65-BA9A-E8EF9E2659CF}"/>
    <dgm:cxn modelId="{FD17B65C-2326-4112-8A5D-5B422751497F}" type="presOf" srcId="{AC11D847-E07A-493A-BBE3-C0B883CF24E3}" destId="{8CC5150F-550D-4E43-8BA2-4CC86F375BCA}" srcOrd="0" destOrd="0" presId="urn:microsoft.com/office/officeart/2008/layout/LinedList"/>
    <dgm:cxn modelId="{26628E60-9023-41F6-BC37-AB1C7B9C9382}" type="presOf" srcId="{C8784FCC-F7A3-42B6-BC35-C4211640C298}" destId="{45CB6677-7951-4A80-9BAF-21F29E131650}" srcOrd="0" destOrd="0" presId="urn:microsoft.com/office/officeart/2008/layout/LinedList"/>
    <dgm:cxn modelId="{9BCAD566-3083-4614-AB04-95102396FCC8}" srcId="{C8784FCC-F7A3-42B6-BC35-C4211640C298}" destId="{CFBE14F2-4A0D-4AF0-80CB-A9973FDDC6F0}" srcOrd="1" destOrd="0" parTransId="{3F2E02FD-8351-4EC9-BEB7-8E7480C0CC25}" sibTransId="{6938AE5D-5BB3-437C-B966-25871D934351}"/>
    <dgm:cxn modelId="{672F756A-FD09-4D15-9766-74D417D09CDE}" srcId="{C8784FCC-F7A3-42B6-BC35-C4211640C298}" destId="{082A4986-8199-47ED-847D-3DD336B4CC4A}" srcOrd="3" destOrd="0" parTransId="{18037497-566D-45AD-9533-63AD4FE10893}" sibTransId="{008A100C-7376-4B22-8C49-C21296499CAF}"/>
    <dgm:cxn modelId="{0F4DAD4C-C456-4634-ABA3-6C833B12785D}" type="presOf" srcId="{082A4986-8199-47ED-847D-3DD336B4CC4A}" destId="{E831C7F0-D0BE-476B-A647-C27900D54D00}" srcOrd="0" destOrd="0" presId="urn:microsoft.com/office/officeart/2008/layout/LinedList"/>
    <dgm:cxn modelId="{D146CAB4-0AEE-446F-B0E4-408D1A04977E}" type="presOf" srcId="{07238620-4BF4-400B-B80E-2CC7216CD83E}" destId="{51EB5C14-7B51-417F-A3EC-776E3808FE0A}" srcOrd="0" destOrd="0" presId="urn:microsoft.com/office/officeart/2008/layout/LinedList"/>
    <dgm:cxn modelId="{335255D1-46EA-4437-BD9C-C8D19C3E8942}" type="presOf" srcId="{CFBE14F2-4A0D-4AF0-80CB-A9973FDDC6F0}" destId="{0F86DA75-5F44-4612-8CE5-A7AD8D6923DA}" srcOrd="0" destOrd="0" presId="urn:microsoft.com/office/officeart/2008/layout/LinedList"/>
    <dgm:cxn modelId="{5B6452AA-1FF9-4658-94DC-352BB3FD77FD}" type="presParOf" srcId="{45CB6677-7951-4A80-9BAF-21F29E131650}" destId="{55856070-FDEF-4935-9A08-A6DEE1C60C11}" srcOrd="0" destOrd="0" presId="urn:microsoft.com/office/officeart/2008/layout/LinedList"/>
    <dgm:cxn modelId="{5F205D23-F909-4B7F-84D1-2B55D0C852C9}" type="presParOf" srcId="{45CB6677-7951-4A80-9BAF-21F29E131650}" destId="{D4F74B21-50EE-4DF5-9A48-8BD03F3EEB90}" srcOrd="1" destOrd="0" presId="urn:microsoft.com/office/officeart/2008/layout/LinedList"/>
    <dgm:cxn modelId="{8635754D-C11A-44E7-B2C3-C7935B959C22}" type="presParOf" srcId="{D4F74B21-50EE-4DF5-9A48-8BD03F3EEB90}" destId="{51EB5C14-7B51-417F-A3EC-776E3808FE0A}" srcOrd="0" destOrd="0" presId="urn:microsoft.com/office/officeart/2008/layout/LinedList"/>
    <dgm:cxn modelId="{4290CCB8-B899-41A6-B1D1-EA3AD1BFCAAA}" type="presParOf" srcId="{D4F74B21-50EE-4DF5-9A48-8BD03F3EEB90}" destId="{FC099EC9-CE8E-4BE2-80FD-089AD0215F2F}" srcOrd="1" destOrd="0" presId="urn:microsoft.com/office/officeart/2008/layout/LinedList"/>
    <dgm:cxn modelId="{43D3ED3F-B518-4860-81FA-A6F7C4F9B136}" type="presParOf" srcId="{45CB6677-7951-4A80-9BAF-21F29E131650}" destId="{8CB971F1-4B30-4D62-8741-03EE511CE067}" srcOrd="2" destOrd="0" presId="urn:microsoft.com/office/officeart/2008/layout/LinedList"/>
    <dgm:cxn modelId="{94137CC7-4EA1-4B62-9842-8FE7F02D436A}" type="presParOf" srcId="{45CB6677-7951-4A80-9BAF-21F29E131650}" destId="{109E5867-E3DB-447D-9F92-742C8E2D2F08}" srcOrd="3" destOrd="0" presId="urn:microsoft.com/office/officeart/2008/layout/LinedList"/>
    <dgm:cxn modelId="{0E397BE6-08F5-4E8B-845E-AEC8A63556ED}" type="presParOf" srcId="{109E5867-E3DB-447D-9F92-742C8E2D2F08}" destId="{0F86DA75-5F44-4612-8CE5-A7AD8D6923DA}" srcOrd="0" destOrd="0" presId="urn:microsoft.com/office/officeart/2008/layout/LinedList"/>
    <dgm:cxn modelId="{5D214BBA-D00F-47DF-9343-B5A92FC4D7F8}" type="presParOf" srcId="{109E5867-E3DB-447D-9F92-742C8E2D2F08}" destId="{26D31275-A299-45E0-93AB-C7C7AFAAAFA9}" srcOrd="1" destOrd="0" presId="urn:microsoft.com/office/officeart/2008/layout/LinedList"/>
    <dgm:cxn modelId="{62996252-2238-4759-8C19-E573A9BEAF6E}" type="presParOf" srcId="{45CB6677-7951-4A80-9BAF-21F29E131650}" destId="{A48A52DF-19AE-441D-B679-3A866CD7E21C}" srcOrd="4" destOrd="0" presId="urn:microsoft.com/office/officeart/2008/layout/LinedList"/>
    <dgm:cxn modelId="{4F582D99-93F2-45E6-874E-D33E46E8BEED}" type="presParOf" srcId="{45CB6677-7951-4A80-9BAF-21F29E131650}" destId="{33FADA2F-8E2B-43D1-8531-7FEDD8FABE83}" srcOrd="5" destOrd="0" presId="urn:microsoft.com/office/officeart/2008/layout/LinedList"/>
    <dgm:cxn modelId="{630DD4CA-5E2E-4BCF-997F-93C24BCC03BC}" type="presParOf" srcId="{33FADA2F-8E2B-43D1-8531-7FEDD8FABE83}" destId="{8CC5150F-550D-4E43-8BA2-4CC86F375BCA}" srcOrd="0" destOrd="0" presId="urn:microsoft.com/office/officeart/2008/layout/LinedList"/>
    <dgm:cxn modelId="{22EA50D6-5003-407D-A53B-1D1759E70768}" type="presParOf" srcId="{33FADA2F-8E2B-43D1-8531-7FEDD8FABE83}" destId="{CD81B6CD-AEF2-4362-9611-B28B56DB4FFC}" srcOrd="1" destOrd="0" presId="urn:microsoft.com/office/officeart/2008/layout/LinedList"/>
    <dgm:cxn modelId="{C32CDBFE-351A-4746-818B-852046420AC9}" type="presParOf" srcId="{45CB6677-7951-4A80-9BAF-21F29E131650}" destId="{A33BDED2-6699-45F3-A597-B0DD8C95915F}" srcOrd="6" destOrd="0" presId="urn:microsoft.com/office/officeart/2008/layout/LinedList"/>
    <dgm:cxn modelId="{374E242A-A2A5-49E8-859A-3FE4F8C67AA2}" type="presParOf" srcId="{45CB6677-7951-4A80-9BAF-21F29E131650}" destId="{076B4FF5-E6B3-4600-BFD2-D1821D8A799F}" srcOrd="7" destOrd="0" presId="urn:microsoft.com/office/officeart/2008/layout/LinedList"/>
    <dgm:cxn modelId="{B558AF47-79C1-4597-8E3C-BA6896EEFDF8}" type="presParOf" srcId="{076B4FF5-E6B3-4600-BFD2-D1821D8A799F}" destId="{E831C7F0-D0BE-476B-A647-C27900D54D00}" srcOrd="0" destOrd="0" presId="urn:microsoft.com/office/officeart/2008/layout/LinedList"/>
    <dgm:cxn modelId="{9C0E434A-F860-44F0-B739-F3942D442CA6}" type="presParOf" srcId="{076B4FF5-E6B3-4600-BFD2-D1821D8A799F}" destId="{4814AC2B-45CF-48C1-97DA-B5B8144425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856070-FDEF-4935-9A08-A6DEE1C60C11}">
      <dsp:nvSpPr>
        <dsp:cNvPr id="0" name=""/>
        <dsp:cNvSpPr/>
      </dsp:nvSpPr>
      <dsp:spPr>
        <a:xfrm>
          <a:off x="0" y="0"/>
          <a:ext cx="75982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B5C14-7B51-417F-A3EC-776E3808FE0A}">
      <dsp:nvSpPr>
        <dsp:cNvPr id="0" name=""/>
        <dsp:cNvSpPr/>
      </dsp:nvSpPr>
      <dsp:spPr>
        <a:xfrm>
          <a:off x="0" y="0"/>
          <a:ext cx="7598229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Certifier Process for k-coloring:</a:t>
          </a:r>
        </a:p>
      </dsp:txBody>
      <dsp:txXfrm>
        <a:off x="0" y="0"/>
        <a:ext cx="7598229" cy="1087834"/>
      </dsp:txXfrm>
    </dsp:sp>
    <dsp:sp modelId="{8CB971F1-4B30-4D62-8741-03EE511CE067}">
      <dsp:nvSpPr>
        <dsp:cNvPr id="0" name=""/>
        <dsp:cNvSpPr/>
      </dsp:nvSpPr>
      <dsp:spPr>
        <a:xfrm>
          <a:off x="0" y="1087834"/>
          <a:ext cx="75982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86DA75-5F44-4612-8CE5-A7AD8D6923DA}">
      <dsp:nvSpPr>
        <dsp:cNvPr id="0" name=""/>
        <dsp:cNvSpPr/>
      </dsp:nvSpPr>
      <dsp:spPr>
        <a:xfrm>
          <a:off x="0" y="1087834"/>
          <a:ext cx="7598229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- Certificate = an array color[v] for every vertex</a:t>
          </a:r>
        </a:p>
      </dsp:txBody>
      <dsp:txXfrm>
        <a:off x="0" y="1087834"/>
        <a:ext cx="7598229" cy="1087834"/>
      </dsp:txXfrm>
    </dsp:sp>
    <dsp:sp modelId="{A48A52DF-19AE-441D-B679-3A866CD7E21C}">
      <dsp:nvSpPr>
        <dsp:cNvPr id="0" name=""/>
        <dsp:cNvSpPr/>
      </dsp:nvSpPr>
      <dsp:spPr>
        <a:xfrm>
          <a:off x="0" y="2175669"/>
          <a:ext cx="75982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5150F-550D-4E43-8BA2-4CC86F375BCA}">
      <dsp:nvSpPr>
        <dsp:cNvPr id="0" name=""/>
        <dsp:cNvSpPr/>
      </dsp:nvSpPr>
      <dsp:spPr>
        <a:xfrm>
          <a:off x="0" y="2175669"/>
          <a:ext cx="7598229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Must use colors in {0, …, k−1}</a:t>
          </a:r>
        </a:p>
      </dsp:txBody>
      <dsp:txXfrm>
        <a:off x="0" y="2175669"/>
        <a:ext cx="7598229" cy="1087834"/>
      </dsp:txXfrm>
    </dsp:sp>
    <dsp:sp modelId="{A33BDED2-6699-45F3-A597-B0DD8C95915F}">
      <dsp:nvSpPr>
        <dsp:cNvPr id="0" name=""/>
        <dsp:cNvSpPr/>
      </dsp:nvSpPr>
      <dsp:spPr>
        <a:xfrm>
          <a:off x="0" y="3263503"/>
          <a:ext cx="75982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1C7F0-D0BE-476B-A647-C27900D54D00}">
      <dsp:nvSpPr>
        <dsp:cNvPr id="0" name=""/>
        <dsp:cNvSpPr/>
      </dsp:nvSpPr>
      <dsp:spPr>
        <a:xfrm>
          <a:off x="0" y="3263503"/>
          <a:ext cx="7598229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Certificate verification runs in polynomial time, so k-Coloring ∈ NP</a:t>
          </a:r>
        </a:p>
      </dsp:txBody>
      <dsp:txXfrm>
        <a:off x="0" y="3263503"/>
        <a:ext cx="7598229" cy="1087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163D5-5BDE-F40A-23A1-EDE21D71A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C8C76-B1FE-160C-EC47-53F2BAAFD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F7B7B-D3ED-BD90-D852-403714121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61219-0A58-4D47-AC43-1DFBBC3833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66C65-ABEB-96AA-F5F3-3B6D70477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484F3-48A5-BECB-0ABB-1D31D2D6B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1CDD-9C5E-44EE-9AC9-D94C04A0C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9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B71F9-09E0-CF16-6209-02D58B94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A9047-C2A9-663B-3800-BA57DFE42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A8070-BA4E-FA6B-8FF8-322B6AE2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61219-0A58-4D47-AC43-1DFBBC3833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0ED75-FB53-F22A-A519-E661D3A85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1D241-69F2-BB18-0F9D-A62E0FA4F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1CDD-9C5E-44EE-9AC9-D94C04A0C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869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6F5B1-69B2-AC9E-0885-24DE66BB7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1029F-AF8B-CC07-2C42-A164C76D3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321A0-3D37-052E-0A7B-FDC84B884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61219-0A58-4D47-AC43-1DFBBC3833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8A72A-B85C-9A61-D996-E25D3B608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1D0FD-4F37-C11C-D490-70AF4FD90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1CDD-9C5E-44EE-9AC9-D94C04A0C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79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1B125-1C37-0F60-78B4-89E8E8E52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AE0DD-65C7-239F-26A6-E81C455A3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56922-E350-A5D9-92C2-F12A7CA4D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BD97C-BC95-A250-B998-B2233F28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61219-0A58-4D47-AC43-1DFBBC3833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A9848-2870-1A51-3FED-6BCE2590D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7EA45-C315-F657-B454-DB0DBEC9C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1CDD-9C5E-44EE-9AC9-D94C04A0C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81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B9E4D-C4F4-3F54-FE36-0CE0BFF61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77121-1B89-FF07-1535-9F3144225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D5431-DAC8-83A7-6591-D741B4CAC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DD39BD-D90D-F445-49EF-B479B670A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9D459B-99AD-5BFD-2B4D-E3697D3A5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C71984-D107-2B03-65A6-7A92B24D2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61219-0A58-4D47-AC43-1DFBBC3833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BD6D69-BE49-072B-EDC6-29D699A1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973B1F-3405-95BD-3965-D14612EF8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1CDD-9C5E-44EE-9AC9-D94C04A0C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9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80146-AFAE-F91A-43A8-FE1D02F36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BF589C-CD40-82E9-B83C-19378F55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61219-0A58-4D47-AC43-1DFBBC3833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251A5-9DFA-087A-1C88-C71E3ACF8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D429C-3C83-DBB2-A8FE-B045B639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1CDD-9C5E-44EE-9AC9-D94C04A0C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61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775E7C-59ED-287C-57A6-83AF69E27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61219-0A58-4D47-AC43-1DFBBC3833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CD8F3-7D26-E4DE-CEFF-17A2C6380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E32BC-204E-92E9-5484-574572AA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1CDD-9C5E-44EE-9AC9-D94C04A0C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646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15BE2-E2D3-63CC-6EBE-77BDD8230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1986F-F190-7DAD-4514-B0F799252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C07453-D035-CEAC-246A-881DEC405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B7259-6634-DB55-43BA-167C9199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61219-0A58-4D47-AC43-1DFBBC3833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E7C83-9BA9-1F9D-145D-B88BFECC4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20A13-F2DE-40C2-003A-315639E70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1CDD-9C5E-44EE-9AC9-D94C04A0C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7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B48A8-72F5-58A3-1C7D-7997CA062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E7E6CE-F91A-A8D4-1FD6-59A85113B0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485E41-ECEE-E582-46AA-E16F11BD0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F81E9-01F1-6E3A-C7F9-809CA73C2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61219-0A58-4D47-AC43-1DFBBC3833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77734-2241-D9E6-C57D-213801BDF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EC6AF-085C-25E7-984C-D4A67DECB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1CDD-9C5E-44EE-9AC9-D94C04A0C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09138-0C06-A746-CCAC-9672BCE47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261ADC-6911-1EBE-29E2-F534BC33D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FB8CB-7444-6C5B-FF3A-92015B12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61219-0A58-4D47-AC43-1DFBBC3833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3CE58-9C51-F540-27F4-6B4CAFA5B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A6E71-2CC6-977A-D5B1-FAFE44D1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1CDD-9C5E-44EE-9AC9-D94C04A0C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14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7D9A72-D8F0-0576-329D-ED35A313E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480F00-AA89-0B2B-67F5-385D21D7C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12D88-D789-C7AD-BCE7-4E11B0A7D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61219-0A58-4D47-AC43-1DFBBC3833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B42EC-DEDB-54A4-2FF0-3578A7713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5494C-E2B4-8395-2111-726C3E33C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1CDD-9C5E-44EE-9AC9-D94C04A0C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73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885152-5C6A-FF2D-C9AA-90F27B613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4A78B-ECAE-CA67-A3CF-F75549CBF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D572B-7953-A8AC-02C8-7783594B48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961219-0A58-4D47-AC43-1DFBBC3833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5453A-C665-6D41-8893-786BA2D25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051C5-CFF4-2F37-560D-8FC1E6705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B1CDD-9C5E-44EE-9AC9-D94C04A0C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267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15B13-8E37-161B-EE4F-301287D87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7200" dirty="0"/>
              <a:t>Minimum Vertex Coloring</a:t>
            </a:r>
            <a:br>
              <a:rPr lang="en-US" sz="7200" dirty="0"/>
            </a:br>
            <a:r>
              <a:rPr lang="en-US" sz="5400" dirty="0"/>
              <a:t>Exact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54C21B-8CB4-BF8E-D4ED-7E43DD6C9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en-US" dirty="0"/>
              <a:t>By: Ronnie Harshbarger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92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9C348-2B6A-2993-39CF-EE6B43D5B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Problem: Minimum Vertex Coloring</a:t>
            </a:r>
            <a:br>
              <a:rPr lang="en-US" dirty="0"/>
            </a:br>
            <a:r>
              <a:rPr lang="en-US" sz="3200" dirty="0"/>
              <a:t>Goal: minimize number of colors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B1BA0-4BCB-C87A-B7D8-54E21F3B1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261054"/>
            <a:ext cx="10515600" cy="4351338"/>
          </a:xfrm>
        </p:spPr>
        <p:txBody>
          <a:bodyPr/>
          <a:lstStyle/>
          <a:p>
            <a:pPr marL="457200" lvl="1" indent="0">
              <a:buNone/>
            </a:pPr>
            <a:endParaRPr lang="en-US"/>
          </a:p>
          <a:p>
            <a:pPr marL="0" indent="0" algn="ctr">
              <a:buNone/>
            </a:pPr>
            <a:r>
              <a:rPr lang="en-US"/>
              <a:t>Assign colors to vertices</a:t>
            </a:r>
          </a:p>
          <a:p>
            <a:pPr marL="0" indent="0" algn="ctr">
              <a:buNone/>
            </a:pPr>
            <a:r>
              <a:rPr lang="en-US"/>
              <a:t>Adjacent vertices must have different colors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close-up of several connected lines&#10;&#10;AI-generated content may be incorrect.">
            <a:extLst>
              <a:ext uri="{FF2B5EF4-FFF2-40B4-BE49-F238E27FC236}">
                <a16:creationId xmlns:a16="http://schemas.microsoft.com/office/drawing/2014/main" id="{3E8C89A6-4FE6-0D32-DB97-B425ECF33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360" y="4001294"/>
            <a:ext cx="9529280" cy="225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884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D1B2F-168D-E042-1AE9-A248CB926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Decision vs. Optimization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BB0BA-4818-43F2-E95D-470E50A46D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636871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Decision Version (k-Coloring)</a:t>
            </a:r>
          </a:p>
          <a:p>
            <a:pPr marL="0" indent="0">
              <a:buNone/>
            </a:pPr>
            <a:r>
              <a:rPr lang="en-US" sz="2000" dirty="0"/>
              <a:t>Does G have a valid coloring using ≤ k colors?</a:t>
            </a:r>
          </a:p>
          <a:p>
            <a:pPr marL="0" indent="0">
              <a:buNone/>
            </a:pPr>
            <a:r>
              <a:rPr lang="en-US" sz="2000" dirty="0"/>
              <a:t>Input:</a:t>
            </a:r>
          </a:p>
          <a:p>
            <a:pPr marL="0" indent="0">
              <a:buNone/>
            </a:pPr>
            <a:r>
              <a:rPr lang="en-US" sz="2000" dirty="0"/>
              <a:t>    graph G</a:t>
            </a:r>
          </a:p>
          <a:p>
            <a:pPr marL="0" indent="0">
              <a:buNone/>
            </a:pPr>
            <a:r>
              <a:rPr lang="en-US" sz="2000" dirty="0"/>
              <a:t>    k = 3</a:t>
            </a:r>
          </a:p>
          <a:p>
            <a:pPr marL="0" indent="0">
              <a:buNone/>
            </a:pPr>
            <a:r>
              <a:rPr lang="en-US" sz="2000" dirty="0"/>
              <a:t>Output:</a:t>
            </a:r>
          </a:p>
          <a:p>
            <a:pPr marL="0" indent="0">
              <a:buNone/>
            </a:pPr>
            <a:r>
              <a:rPr lang="en-US" sz="2000" dirty="0"/>
              <a:t>    Yes/No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FF9B48-EFB8-DD84-FD32-8F47FF4D0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Optimization Version</a:t>
            </a:r>
          </a:p>
          <a:p>
            <a:pPr marL="0" indent="0">
              <a:buNone/>
            </a:pPr>
            <a:r>
              <a:rPr lang="en-US" sz="2000" dirty="0"/>
              <a:t>Find χ(G) and give a coloring achieving it</a:t>
            </a:r>
          </a:p>
          <a:p>
            <a:pPr marL="0" indent="0">
              <a:buNone/>
            </a:pPr>
            <a:r>
              <a:rPr lang="en-US" sz="2000" dirty="0"/>
              <a:t>Input: </a:t>
            </a:r>
          </a:p>
          <a:p>
            <a:pPr marL="0" indent="0">
              <a:buNone/>
            </a:pPr>
            <a:r>
              <a:rPr lang="en-US" sz="2000" dirty="0"/>
              <a:t>    Graph G</a:t>
            </a:r>
          </a:p>
          <a:p>
            <a:pPr marL="0" indent="0">
              <a:buNone/>
            </a:pPr>
            <a:r>
              <a:rPr lang="en-US" sz="2000" dirty="0"/>
              <a:t>Output: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l-GR" sz="2000" dirty="0"/>
              <a:t>χ(</a:t>
            </a:r>
            <a:r>
              <a:rPr lang="en-US" sz="2000" dirty="0"/>
              <a:t>G)</a:t>
            </a:r>
          </a:p>
          <a:p>
            <a:pPr marL="0" indent="0">
              <a:buNone/>
            </a:pPr>
            <a:r>
              <a:rPr lang="en-US" sz="2000" dirty="0"/>
              <a:t>    Valid coloring using exactly χ(G) colors</a:t>
            </a:r>
          </a:p>
        </p:txBody>
      </p:sp>
    </p:spTree>
    <p:extLst>
      <p:ext uri="{BB962C8B-B14F-4D97-AF65-F5344CB8AC3E}">
        <p14:creationId xmlns:p14="http://schemas.microsoft.com/office/powerpoint/2010/main" val="789526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57EA-26C6-1BA0-35E5-5397167DB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Certifier Process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BC056256-604E-5BCF-B12A-E3663BB996BB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293914" y="2013558"/>
          <a:ext cx="759822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B19314-5F88-BA49-1233-38B1768DE854}"/>
              </a:ext>
            </a:extLst>
          </p:cNvPr>
          <p:cNvSpPr txBox="1"/>
          <p:nvPr/>
        </p:nvSpPr>
        <p:spPr>
          <a:xfrm>
            <a:off x="8218714" y="1991487"/>
            <a:ext cx="3461657" cy="20313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for each v in V:</a:t>
            </a:r>
          </a:p>
          <a:p>
            <a:r>
              <a:rPr lang="en-US" dirty="0"/>
              <a:t>    if color[v] not in 0..k-1: reject</a:t>
            </a:r>
          </a:p>
          <a:p>
            <a:endParaRPr lang="en-US" dirty="0"/>
          </a:p>
          <a:p>
            <a:r>
              <a:rPr lang="en-US" dirty="0"/>
              <a:t>for each (</a:t>
            </a:r>
            <a:r>
              <a:rPr lang="en-US" dirty="0" err="1"/>
              <a:t>u,v</a:t>
            </a:r>
            <a:r>
              <a:rPr lang="en-US" dirty="0"/>
              <a:t>) in E:</a:t>
            </a:r>
          </a:p>
          <a:p>
            <a:r>
              <a:rPr lang="en-US" dirty="0"/>
              <a:t>    if color[u] == color[v]: reject</a:t>
            </a:r>
          </a:p>
          <a:p>
            <a:endParaRPr lang="en-US" dirty="0"/>
          </a:p>
          <a:p>
            <a:r>
              <a:rPr lang="en-US" dirty="0"/>
              <a:t>accept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8EAB0D-6A91-31B8-2588-D3A3D45F0001}"/>
              </a:ext>
            </a:extLst>
          </p:cNvPr>
          <p:cNvSpPr txBox="1"/>
          <p:nvPr/>
        </p:nvSpPr>
        <p:spPr>
          <a:xfrm>
            <a:off x="8218714" y="4092778"/>
            <a:ext cx="34616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dirty="0"/>
              <a:t>Total work = O(|V| + |E|)</a:t>
            </a:r>
          </a:p>
        </p:txBody>
      </p:sp>
    </p:spTree>
    <p:extLst>
      <p:ext uri="{BB962C8B-B14F-4D97-AF65-F5344CB8AC3E}">
        <p14:creationId xmlns:p14="http://schemas.microsoft.com/office/powerpoint/2010/main" val="2912970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1F7695-1BB3-5E32-F650-21E1A47A9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759428-64A2-8400-1DFB-E9D2C1220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953719-DFEE-F0AE-EF2A-E1F035A98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61" y="574289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Reduction:  3-Coloring NP-hard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7D5706-C3CE-FC9C-790C-B7CCCD7E8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636871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3-Coloring</a:t>
            </a:r>
          </a:p>
          <a:p>
            <a:pPr marL="0" indent="0">
              <a:buNone/>
            </a:pPr>
            <a:r>
              <a:rPr lang="en-US" sz="2000" dirty="0"/>
              <a:t>Input:   graph </a:t>
            </a:r>
            <a:r>
              <a:rPr lang="en-US" sz="2000" b="1" dirty="0"/>
              <a:t>G</a:t>
            </a:r>
          </a:p>
          <a:p>
            <a:pPr marL="0" indent="0">
              <a:buNone/>
            </a:pPr>
            <a:r>
              <a:rPr lang="en-US" sz="2000" dirty="0"/>
              <a:t> Can </a:t>
            </a:r>
            <a:r>
              <a:rPr lang="en-US" sz="2000" b="1" dirty="0"/>
              <a:t>G</a:t>
            </a:r>
            <a:r>
              <a:rPr lang="en-US" sz="2000" dirty="0"/>
              <a:t> be colored with ≤ 3 colors?</a:t>
            </a:r>
          </a:p>
          <a:p>
            <a:pPr marL="0" indent="0">
              <a:buNone/>
            </a:pPr>
            <a:r>
              <a:rPr lang="en-US" sz="2000" dirty="0"/>
              <a:t> 3-Coloring is NP-complete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9D3B1A-42BF-19A3-BB37-22DB00B55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248EF3-08C8-F51F-ABF4-C51255763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511795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Minimum Coloring</a:t>
            </a:r>
          </a:p>
          <a:p>
            <a:pPr marL="0" indent="0">
              <a:buNone/>
            </a:pPr>
            <a:r>
              <a:rPr lang="en-US" sz="2000" dirty="0"/>
              <a:t>Give the same graph </a:t>
            </a:r>
            <a:r>
              <a:rPr lang="en-US" sz="2000" b="1" dirty="0"/>
              <a:t>G</a:t>
            </a:r>
            <a:r>
              <a:rPr lang="en-US" sz="2000" dirty="0"/>
              <a:t> to minimum coloring solver</a:t>
            </a:r>
          </a:p>
          <a:p>
            <a:pPr marL="0" indent="0">
              <a:buNone/>
            </a:pPr>
            <a:r>
              <a:rPr lang="en-US" sz="2000" dirty="0"/>
              <a:t>If solver returns χ(</a:t>
            </a:r>
            <a:r>
              <a:rPr lang="en-US" sz="2000" b="1" dirty="0"/>
              <a:t>G</a:t>
            </a:r>
            <a:r>
              <a:rPr lang="en-US" sz="2000" dirty="0"/>
              <a:t>) ≤ 3 → YES</a:t>
            </a:r>
          </a:p>
          <a:p>
            <a:pPr marL="0" indent="0">
              <a:buNone/>
            </a:pPr>
            <a:r>
              <a:rPr lang="en-US" sz="2000" dirty="0"/>
              <a:t>If solver returns χ(G) ≥ 4 → NO</a:t>
            </a:r>
          </a:p>
        </p:txBody>
      </p:sp>
      <p:pic>
        <p:nvPicPr>
          <p:cNvPr id="3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42DFC989-A685-EF60-A0FA-8D735D5AA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642" y="4114800"/>
            <a:ext cx="4698253" cy="274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6AB968-5F48-200A-21AF-5D33C6D70C1C}"/>
              </a:ext>
            </a:extLst>
          </p:cNvPr>
          <p:cNvSpPr txBox="1"/>
          <p:nvPr/>
        </p:nvSpPr>
        <p:spPr>
          <a:xfrm>
            <a:off x="7920681" y="3594411"/>
            <a:ext cx="515893" cy="17008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3E0299-E651-551C-3A06-B82AC8BE3C3A}"/>
              </a:ext>
            </a:extLst>
          </p:cNvPr>
          <p:cNvSpPr txBox="1"/>
          <p:nvPr/>
        </p:nvSpPr>
        <p:spPr>
          <a:xfrm>
            <a:off x="4805254" y="4576004"/>
            <a:ext cx="7262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 minimum coloring solver’s output directly answers the 3-Coloring instance</a:t>
            </a:r>
          </a:p>
          <a:p>
            <a:r>
              <a:rPr lang="en-US" sz="2000" dirty="0"/>
              <a:t>Running the solver on G is polynomial-time</a:t>
            </a:r>
          </a:p>
        </p:txBody>
      </p:sp>
    </p:spTree>
    <p:extLst>
      <p:ext uri="{BB962C8B-B14F-4D97-AF65-F5344CB8AC3E}">
        <p14:creationId xmlns:p14="http://schemas.microsoft.com/office/powerpoint/2010/main" val="449205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839BC-6EC1-F1A6-53D4-5B55B57AA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Analytical Runtime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251D03-65D5-BAE1-D31B-C15B0E0C84E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Big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𝒪</m:t>
                    </m:r>
                  </m:oMath>
                </a14:m>
                <a:r>
                  <a:rPr lang="en-US" dirty="0"/>
                  <a:t> Analysis:</a:t>
                </a:r>
              </a:p>
              <a:p>
                <a:pPr marL="0" indent="0">
                  <a:buNone/>
                </a:pPr>
                <a:r>
                  <a:rPr lang="en-US" sz="1600" dirty="0"/>
                  <a:t>Build adjacency list: </a:t>
                </a:r>
                <a:r>
                  <a:rPr lang="en-US" sz="1600" b="1" dirty="0"/>
                  <a:t>O(n + m)</a:t>
                </a:r>
              </a:p>
              <a:p>
                <a:pPr marL="0" indent="0">
                  <a:buNone/>
                </a:pPr>
                <a:r>
                  <a:rPr lang="en-US" sz="2000" dirty="0"/>
                  <a:t>Backtracking:</a:t>
                </a:r>
              </a:p>
              <a:p>
                <a:pPr marL="0" indent="0">
                  <a:buNone/>
                </a:pPr>
                <a:r>
                  <a:rPr lang="en-US" sz="1600" dirty="0"/>
                  <a:t>At most k choices per vertex </a:t>
                </a:r>
              </a:p>
              <a:p>
                <a:pPr marL="0" indent="0">
                  <a:buNone/>
                </a:pPr>
                <a:r>
                  <a:rPr lang="en-US" sz="1600" dirty="0"/>
                  <a:t>	 ≤ kⁿ colorings explored</a:t>
                </a:r>
              </a:p>
              <a:p>
                <a:pPr marL="0" indent="0">
                  <a:buNone/>
                </a:pPr>
                <a:r>
                  <a:rPr lang="en-US" sz="1600" dirty="0"/>
                  <a:t>Each step checks neighbors of v </a:t>
                </a:r>
              </a:p>
              <a:p>
                <a:pPr marL="0" indent="0">
                  <a:buNone/>
                </a:pPr>
                <a:r>
                  <a:rPr lang="en-US" sz="1600" dirty="0"/>
                  <a:t>	 O(deg(v)) ⊆ </a:t>
                </a:r>
                <a:r>
                  <a:rPr lang="en-US" sz="1600" b="1" dirty="0"/>
                  <a:t>O(n</a:t>
                </a:r>
                <a:r>
                  <a:rPr lang="en-US" sz="1600" dirty="0"/>
                  <a:t>)</a:t>
                </a:r>
              </a:p>
              <a:p>
                <a:pPr marL="0" indent="0">
                  <a:buNone/>
                </a:pPr>
                <a:r>
                  <a:rPr lang="en-US" sz="1600" dirty="0"/>
                  <a:t>So T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ar-AE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ar-AE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6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n-US" sz="1600" b="1" i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ar-AE" sz="16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b="1" dirty="0"/>
              </a:p>
              <a:p>
                <a:pPr marL="0" indent="0">
                  <a:buNone/>
                </a:pPr>
                <a:r>
                  <a:rPr lang="en-US" sz="2000" dirty="0"/>
                  <a:t>Worst case:</a:t>
                </a:r>
              </a:p>
              <a:p>
                <a:pPr marL="0" indent="0">
                  <a:buNone/>
                </a:pPr>
                <a:r>
                  <a:rPr lang="pt-BR" sz="1600" dirty="0"/>
                  <a:t>T(n)=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ar-AE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6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n-US" sz="1600" b="1" i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ar-AE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251D03-65D5-BAE1-D31B-C15B0E0C84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78EBA-1EFF-09AE-BD8B-19DE52CD2F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870956-65A1-478A-5FF1-BBD968D6C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059" y="1825625"/>
            <a:ext cx="7256532" cy="48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294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840D13-4B6F-07D0-D720-D8CB7F903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600" y="224919"/>
            <a:ext cx="5487271" cy="17739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Empirical Runtime Analysis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74FAE3E-7334-C7C3-51F5-9120FE660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193" y="2885823"/>
            <a:ext cx="5203035" cy="31738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C2EEC6-6972-393E-74C6-41ACFC672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07" y="2885823"/>
            <a:ext cx="5117185" cy="303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37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339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Cambria Math</vt:lpstr>
      <vt:lpstr>Office Theme</vt:lpstr>
      <vt:lpstr>Minimum Vertex Coloring Exact Solution</vt:lpstr>
      <vt:lpstr>Problem: Minimum Vertex Coloring Goal: minimize number of colors </vt:lpstr>
      <vt:lpstr>Decision vs. Optimization</vt:lpstr>
      <vt:lpstr>Certifier Process</vt:lpstr>
      <vt:lpstr>Reduction:  3-Coloring NP-hard Problem</vt:lpstr>
      <vt:lpstr>Analytical Runtime Analysis</vt:lpstr>
      <vt:lpstr>Empirical Runtime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Harshbarger, Ronnie Dean - harshbrd</dc:creator>
  <cp:lastModifiedBy>Harshbarger, Ronnie Dean - harshbrd</cp:lastModifiedBy>
  <cp:revision>5</cp:revision>
  <dcterms:created xsi:type="dcterms:W3CDTF">2025-12-02T19:34:39Z</dcterms:created>
  <dcterms:modified xsi:type="dcterms:W3CDTF">2025-12-03T04:17:56Z</dcterms:modified>
</cp:coreProperties>
</file>